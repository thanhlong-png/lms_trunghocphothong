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7"/>
  </p:notesMasterIdLst>
  <p:sldIdLst>
    <p:sldId id="256" r:id="rId2"/>
    <p:sldId id="257" r:id="rId3"/>
    <p:sldId id="274" r:id="rId4"/>
    <p:sldId id="258" r:id="rId5"/>
    <p:sldId id="269" r:id="rId6"/>
    <p:sldId id="259" r:id="rId7"/>
    <p:sldId id="260" r:id="rId8"/>
    <p:sldId id="261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73" r:id="rId18"/>
    <p:sldId id="262" r:id="rId19"/>
    <p:sldId id="263" r:id="rId20"/>
    <p:sldId id="264" r:id="rId21"/>
    <p:sldId id="265" r:id="rId22"/>
    <p:sldId id="272" r:id="rId23"/>
    <p:sldId id="266" r:id="rId24"/>
    <p:sldId id="267" r:id="rId25"/>
    <p:sldId id="268" r:id="rId26"/>
  </p:sldIdLst>
  <p:sldSz cx="12192000" cy="6858000"/>
  <p:notesSz cx="6858000" cy="9144000"/>
  <p:embeddedFontLst>
    <p:embeddedFont>
      <p:font typeface="Fira Code" panose="020B0809050000020004" pitchFamily="49" charset="0"/>
      <p:regular r:id="rId28"/>
      <p:bold r:id="rId29"/>
    </p:embeddedFont>
    <p:embeddedFont>
      <p:font typeface="Plus Jakarta Sans" panose="020B0604020202020204" charset="0"/>
      <p:regular r:id="rId30"/>
      <p:bold r:id="rId31"/>
      <p:italic r:id="rId32"/>
      <p:boldItalic r:id="rId33"/>
    </p:embeddedFont>
    <p:embeddedFont>
      <p:font typeface="Plus Jakarta Sans ExtraBold" panose="020B0604020202020204" charset="0"/>
      <p:bold r:id="rId34"/>
      <p:boldItalic r:id="rId35"/>
    </p:embeddedFont>
    <p:embeddedFont>
      <p:font typeface="Plus Jakarta Sans SemiBold" panose="020B060402020202020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1573FFC-9CB3-4FC3-9045-9A6CBB673AC8}">
  <a:tblStyle styleId="{81573FFC-9CB3-4FC3-9045-9A6CBB673AC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43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1E72C008-9D38-92AD-7A43-3A10D4FB5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E3F705F5-B59E-4ED8-BDB2-C941D4CBC4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1DB35476-5D09-B690-BE3D-A525796CF5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55249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0066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image" Target="../media/image3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3" Type="http://schemas.openxmlformats.org/officeDocument/2006/relationships/image" Target="../media/image3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3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3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10" Type="http://schemas.openxmlformats.org/officeDocument/2006/relationships/image" Target="../media/image81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3.png"/><Relationship Id="rId7" Type="http://schemas.openxmlformats.org/officeDocument/2006/relationships/image" Target="../media/image8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11" Type="http://schemas.openxmlformats.org/officeDocument/2006/relationships/image" Target="../media/image2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3.png"/><Relationship Id="rId7" Type="http://schemas.openxmlformats.org/officeDocument/2006/relationships/image" Target="../media/image9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3765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9762" y="390525"/>
            <a:ext cx="752475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86;p13">
            <a:extLst>
              <a:ext uri="{FF2B5EF4-FFF2-40B4-BE49-F238E27FC236}">
                <a16:creationId xmlns:a16="http://schemas.microsoft.com/office/drawing/2014/main" id="{08D09E80-57EC-AE3B-AB13-D8E74D81D310}"/>
              </a:ext>
            </a:extLst>
          </p:cNvPr>
          <p:cNvSpPr txBox="1"/>
          <p:nvPr/>
        </p:nvSpPr>
        <p:spPr>
          <a:xfrm>
            <a:off x="242887" y="1295400"/>
            <a:ext cx="11706225" cy="107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0" i="0" u="none" strike="noStrike" cap="none" dirty="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DEPENDENCY </a:t>
            </a:r>
            <a:r>
              <a:rPr lang="en-US" sz="6750" b="0" i="0" u="none" strike="noStrike" cap="none" dirty="0">
                <a:solidFill>
                  <a:srgbClr val="00FFC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INJECTION</a:t>
            </a:r>
            <a:endParaRPr dirty="0"/>
          </a:p>
        </p:txBody>
      </p:sp>
      <p:sp>
        <p:nvSpPr>
          <p:cNvPr id="4" name="Google Shape;87;p13">
            <a:extLst>
              <a:ext uri="{FF2B5EF4-FFF2-40B4-BE49-F238E27FC236}">
                <a16:creationId xmlns:a16="http://schemas.microsoft.com/office/drawing/2014/main" id="{CDC61BDB-6140-1754-4BFA-BA3B22382047}"/>
              </a:ext>
            </a:extLst>
          </p:cNvPr>
          <p:cNvSpPr txBox="1"/>
          <p:nvPr/>
        </p:nvSpPr>
        <p:spPr>
          <a:xfrm>
            <a:off x="485775" y="2514600"/>
            <a:ext cx="112204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800" i="1" dirty="0">
                <a:solidFill>
                  <a:schemeClr val="bg1">
                    <a:lumMod val="65000"/>
                  </a:schemeClr>
                </a:solidFill>
              </a:rPr>
              <a:t>Design Pattern &amp; </a:t>
            </a:r>
            <a:r>
              <a:rPr lang="en-US" sz="2800" i="1" dirty="0" err="1">
                <a:solidFill>
                  <a:schemeClr val="bg1">
                    <a:lumMod val="65000"/>
                  </a:schemeClr>
                </a:solidFill>
              </a:rPr>
              <a:t>Kiến</a:t>
            </a:r>
            <a:r>
              <a:rPr lang="en-US" sz="2800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2800" i="1" dirty="0" err="1">
                <a:solidFill>
                  <a:schemeClr val="bg1">
                    <a:lumMod val="65000"/>
                  </a:schemeClr>
                </a:solidFill>
              </a:rPr>
              <a:t>trúc</a:t>
            </a:r>
            <a:r>
              <a:rPr lang="en-US" sz="2800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2800" i="1" dirty="0" err="1">
                <a:solidFill>
                  <a:schemeClr val="bg1">
                    <a:lumMod val="65000"/>
                  </a:schemeClr>
                </a:solidFill>
              </a:rPr>
              <a:t>phần</a:t>
            </a:r>
            <a:r>
              <a:rPr lang="en-US" sz="2800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2800" i="1" dirty="0" err="1">
                <a:solidFill>
                  <a:schemeClr val="bg1">
                    <a:lumMod val="65000"/>
                  </a:schemeClr>
                </a:solidFill>
              </a:rPr>
              <a:t>mềm</a:t>
            </a:r>
            <a:r>
              <a:rPr lang="en-US" sz="2800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2800" i="1" dirty="0" err="1">
                <a:solidFill>
                  <a:schemeClr val="bg1">
                    <a:lumMod val="65000"/>
                  </a:schemeClr>
                </a:solidFill>
              </a:rPr>
              <a:t>hiện</a:t>
            </a:r>
            <a:r>
              <a:rPr lang="en-US" sz="2800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2800" i="1" dirty="0" err="1">
                <a:solidFill>
                  <a:schemeClr val="bg1">
                    <a:lumMod val="65000"/>
                  </a:schemeClr>
                </a:solidFill>
              </a:rPr>
              <a:t>đại</a:t>
            </a:r>
            <a:endParaRPr lang="en-US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Google Shape;88;p13">
            <a:extLst>
              <a:ext uri="{FF2B5EF4-FFF2-40B4-BE49-F238E27FC236}">
                <a16:creationId xmlns:a16="http://schemas.microsoft.com/office/drawing/2014/main" id="{25A65634-BA0D-506E-FE92-EE3E52FDFA39}"/>
              </a:ext>
            </a:extLst>
          </p:cNvPr>
          <p:cNvSpPr txBox="1"/>
          <p:nvPr/>
        </p:nvSpPr>
        <p:spPr>
          <a:xfrm>
            <a:off x="485775" y="3324225"/>
            <a:ext cx="112204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Báo </a:t>
            </a:r>
            <a:r>
              <a:rPr lang="en-US" sz="2000" b="0" i="0" u="none" strike="noStrike" cap="none" dirty="0" err="1">
                <a:solidFill>
                  <a:srgbClr val="6666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cáo</a:t>
            </a:r>
            <a:r>
              <a:rPr lang="en-US" sz="2000" b="0" i="0" u="none" strike="noStrike" cap="none" dirty="0">
                <a:solidFill>
                  <a:srgbClr val="6666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000" b="0" i="0" u="none" strike="noStrike" cap="none" dirty="0" err="1">
                <a:solidFill>
                  <a:srgbClr val="6666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Kỹ</a:t>
            </a:r>
            <a:r>
              <a:rPr lang="en-US" sz="2000" b="0" i="0" u="none" strike="noStrike" cap="none" dirty="0">
                <a:solidFill>
                  <a:srgbClr val="6666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000" b="0" i="0" u="none" strike="noStrike" cap="none" dirty="0" err="1">
                <a:solidFill>
                  <a:srgbClr val="6666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thuật</a:t>
            </a:r>
            <a:r>
              <a:rPr lang="en-US" sz="2000" b="0" i="0" u="none" strike="noStrike" cap="none" dirty="0">
                <a:solidFill>
                  <a:srgbClr val="6666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(Technical Presentation) | </a:t>
            </a:r>
            <a:r>
              <a:rPr lang="en-US" sz="2000" b="0" i="0" u="none" strike="noStrike" cap="none" dirty="0" err="1">
                <a:solidFill>
                  <a:srgbClr val="6666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Cấu</a:t>
            </a:r>
            <a:r>
              <a:rPr lang="en-US" sz="2000" b="0" i="0" u="none" strike="noStrike" cap="none" dirty="0">
                <a:solidFill>
                  <a:srgbClr val="6666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000" b="0" i="0" u="none" strike="noStrike" cap="none" dirty="0" err="1">
                <a:solidFill>
                  <a:srgbClr val="6666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trúc</a:t>
            </a:r>
            <a:r>
              <a:rPr lang="en-US" sz="2000" b="0" i="0" u="none" strike="noStrike" cap="none" dirty="0">
                <a:solidFill>
                  <a:srgbClr val="6666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5 </a:t>
            </a:r>
            <a:r>
              <a:rPr lang="en-US" sz="2000" b="0" i="0" u="none" strike="noStrike" cap="none" dirty="0" err="1">
                <a:solidFill>
                  <a:srgbClr val="6666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Phần</a:t>
            </a:r>
            <a:endParaRPr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416E1B-EDCD-B56B-807F-71A86B027D6A}"/>
              </a:ext>
            </a:extLst>
          </p:cNvPr>
          <p:cNvSpPr txBox="1"/>
          <p:nvPr/>
        </p:nvSpPr>
        <p:spPr>
          <a:xfrm>
            <a:off x="668593" y="4307085"/>
            <a:ext cx="11037631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3600" dirty="0">
                <a:solidFill>
                  <a:schemeClr val="accent5">
                    <a:lumMod val="60000"/>
                    <a:lumOff val="40000"/>
                  </a:schemeClr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NHÓM : 9</a:t>
            </a:r>
          </a:p>
          <a:p>
            <a:pPr lvl="0" algn="ctr"/>
            <a:br>
              <a:rPr lang="en-US" sz="2400" dirty="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</a:br>
            <a:r>
              <a:rPr lang="en-US" sz="2400" dirty="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MÔN HỌC : CÔNG NGHỆ PHẦN MỀM</a:t>
            </a:r>
            <a:br>
              <a:rPr lang="en-US" sz="2400" dirty="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</a:br>
            <a:endParaRPr lang="en-US" sz="2400" dirty="0">
              <a:solidFill>
                <a:srgbClr val="FFFFFF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lvl="0" algn="ctr"/>
            <a:r>
              <a:rPr lang="en-US" sz="2400" dirty="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GIẢNG VIÊN : ĐỒNG NGỌC NGUYÊN THỊNH</a:t>
            </a:r>
          </a:p>
          <a:p>
            <a:pPr lvl="0"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1400175"/>
            <a:ext cx="3549699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21224" y="1400175"/>
            <a:ext cx="3549699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56674" y="1400175"/>
            <a:ext cx="3549699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42975" y="390525"/>
            <a:ext cx="487060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VỊ TRÍ TRONG HỆ THỐNG</a:t>
            </a:r>
            <a:endParaRPr dirty="0"/>
          </a:p>
        </p:txBody>
      </p:sp>
      <p:pic>
        <p:nvPicPr>
          <p:cNvPr id="97" name="Google Shape;9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20300" y="438150"/>
            <a:ext cx="168592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5775" y="452437"/>
            <a:ext cx="31432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965275" y="2670869"/>
            <a:ext cx="59055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255424" y="3432869"/>
            <a:ext cx="201025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Design Pattern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781050" y="3909119"/>
            <a:ext cx="295914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AAAA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Thuộc nhóm </a:t>
            </a:r>
            <a:r>
              <a:rPr lang="en-US" sz="1350" b="1" i="0" u="none" strike="noStrike" cap="none">
                <a:solidFill>
                  <a:srgbClr val="AAAAA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Creational Pattern</a:t>
            </a:r>
            <a:r>
              <a:rPr lang="en-US" sz="1350" b="0" i="0" u="none" strike="noStrike" cap="none">
                <a:solidFill>
                  <a:srgbClr val="AAAAA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Đảm nhận việc quản lý cách các đối tượng được sinh ra và vòng đời của chúng thay vì để object tự lo liệu.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67400" y="2670869"/>
            <a:ext cx="45720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5035867" y="3432869"/>
            <a:ext cx="212026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SOLID Principle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616499" y="3909119"/>
            <a:ext cx="295914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AAAA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Là công cụ mạnh mẽ nhất để thực thi chữ </a:t>
            </a:r>
            <a:r>
              <a:rPr lang="en-US" sz="1350" b="1" i="0" u="none" strike="noStrike" cap="none">
                <a:solidFill>
                  <a:srgbClr val="AAAAA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'D' (Dependency Inversion Principle)</a:t>
            </a:r>
            <a:r>
              <a:rPr lang="en-US" sz="1350" b="0" i="0" u="none" strike="noStrike" cap="none">
                <a:solidFill>
                  <a:srgbClr val="AAAAA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trong 5 nguyên lý thiết kế hướng đối tượng.</a:t>
            </a:r>
            <a:endParaRPr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669512" y="2670869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8586281" y="3432869"/>
            <a:ext cx="269033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Kiến trúc Phần mềm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451949" y="3909119"/>
            <a:ext cx="295914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AAAA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Giai đoạn </a:t>
            </a:r>
            <a:r>
              <a:rPr lang="en-US" sz="1350" b="1" i="0" u="none" strike="noStrike" cap="none">
                <a:solidFill>
                  <a:srgbClr val="AAAAA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thiết kế kiến trúc hệ thống</a:t>
            </a:r>
            <a:r>
              <a:rPr lang="en-US" sz="1350" b="0" i="0" u="none" strike="noStrike" cap="none">
                <a:solidFill>
                  <a:srgbClr val="AAAAA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(mid-scale trở lên). Là nền tảng bắt buộc của Microservices và Clean Architecture.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  <p:bldP spid="101" grpId="0"/>
      <p:bldP spid="103" grpId="0"/>
      <p:bldP spid="104" grpId="0"/>
      <p:bldP spid="106" grpId="0"/>
      <p:bldP spid="10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0794B-E137-B5E9-8437-07F25FFFE7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CA228A-9ABF-1C5E-6E03-2697141551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22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52122" y="1552575"/>
            <a:ext cx="1905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804522" y="2447925"/>
            <a:ext cx="933450" cy="352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942975" y="390525"/>
            <a:ext cx="574071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BÀI TOÁN: </a:t>
            </a:r>
            <a:r>
              <a:rPr lang="en-US" sz="2700" b="0" i="0" u="none" strike="noStrike" cap="none" dirty="0">
                <a:solidFill>
                  <a:srgbClr val="FF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TIGHT COUPLING</a:t>
            </a:r>
            <a:endParaRPr dirty="0"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239375" y="438150"/>
            <a:ext cx="14668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5775" y="452437"/>
            <a:ext cx="31432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/>
          <p:nvPr/>
        </p:nvSpPr>
        <p:spPr>
          <a:xfrm>
            <a:off x="485775" y="5366817"/>
            <a:ext cx="4209841" cy="1038746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406119" y="5366817"/>
            <a:ext cx="105874" cy="1038746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31985247" y="1657350"/>
            <a:ext cx="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8888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BookingService.cs</a:t>
            </a:r>
            <a:endParaRPr/>
          </a:p>
        </p:txBody>
      </p:sp>
      <p:sp>
        <p:nvSpPr>
          <p:cNvPr id="4" name="Google Shape;121;p15">
            <a:extLst>
              <a:ext uri="{FF2B5EF4-FFF2-40B4-BE49-F238E27FC236}">
                <a16:creationId xmlns:a16="http://schemas.microsoft.com/office/drawing/2014/main" id="{5D62E6D3-009D-3782-2167-06B5EBA1EF96}"/>
              </a:ext>
            </a:extLst>
          </p:cNvPr>
          <p:cNvSpPr txBox="1"/>
          <p:nvPr/>
        </p:nvSpPr>
        <p:spPr>
          <a:xfrm>
            <a:off x="641839" y="5311152"/>
            <a:ext cx="4053777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"</a:t>
            </a:r>
            <a:r>
              <a:rPr lang="en-US" sz="1500" b="0" i="1" u="none" strike="noStrike" cap="none" dirty="0" err="1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Không</a:t>
            </a:r>
            <a:r>
              <a:rPr lang="en-US" sz="1500" b="0" i="1" u="none" strike="noStrike" cap="none" dirty="0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</a:t>
            </a:r>
            <a:r>
              <a:rPr lang="en-US" sz="1500" b="0" i="1" u="none" strike="noStrike" cap="none" dirty="0" err="1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có</a:t>
            </a:r>
            <a:r>
              <a:rPr lang="en-US" sz="1500" b="0" i="1" u="none" strike="noStrike" cap="none" dirty="0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DI </a:t>
            </a:r>
            <a:r>
              <a:rPr lang="en-US" sz="1500" b="0" i="1" u="none" strike="noStrike" cap="none" dirty="0" err="1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giống</a:t>
            </a:r>
            <a:r>
              <a:rPr lang="en-US" sz="1500" b="0" i="1" u="none" strike="noStrike" cap="none" dirty="0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</a:t>
            </a:r>
            <a:r>
              <a:rPr lang="en-US" sz="1500" b="0" i="1" u="none" strike="noStrike" cap="none" dirty="0" err="1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như</a:t>
            </a:r>
            <a:r>
              <a:rPr lang="en-US" sz="1500" b="0" i="1" u="none" strike="noStrike" cap="none" dirty="0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</a:t>
            </a:r>
            <a:r>
              <a:rPr lang="en-US" sz="1500" b="0" i="1" u="none" strike="noStrike" cap="none" dirty="0" err="1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xây</a:t>
            </a:r>
            <a:r>
              <a:rPr lang="en-US" sz="1500" b="0" i="1" u="none" strike="noStrike" cap="none" dirty="0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</a:t>
            </a:r>
            <a:r>
              <a:rPr lang="en-US" sz="1500" b="0" i="1" u="none" strike="noStrike" cap="none" dirty="0" err="1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nhà</a:t>
            </a:r>
            <a:r>
              <a:rPr lang="en-US" sz="1500" b="0" i="1" u="none" strike="noStrike" cap="none" dirty="0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</a:t>
            </a:r>
            <a:r>
              <a:rPr lang="en-US" sz="1500" b="0" i="1" u="none" strike="noStrike" cap="none" dirty="0" err="1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bằng</a:t>
            </a:r>
            <a:r>
              <a:rPr lang="en-US" sz="1500" b="0" i="1" u="none" strike="noStrike" cap="none" dirty="0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</a:t>
            </a:r>
            <a:r>
              <a:rPr lang="en-US" sz="1500" b="0" i="1" u="none" strike="noStrike" cap="none" dirty="0" err="1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bê</a:t>
            </a:r>
            <a:r>
              <a:rPr lang="en-US" sz="1500" b="0" i="1" u="none" strike="noStrike" cap="none" dirty="0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</a:t>
            </a:r>
            <a:r>
              <a:rPr lang="en-US" sz="1500" b="0" i="1" u="none" strike="noStrike" cap="none" dirty="0" err="1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tông</a:t>
            </a:r>
            <a:r>
              <a:rPr lang="en-US" sz="1500" b="0" i="1" u="none" strike="noStrike" cap="none" dirty="0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</a:t>
            </a:r>
            <a:r>
              <a:rPr lang="en-US" sz="1500" b="0" i="1" u="none" strike="noStrike" cap="none" dirty="0" err="1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khối</a:t>
            </a:r>
            <a:r>
              <a:rPr lang="en-US" sz="1500" b="0" i="1" u="none" strike="noStrike" cap="none" dirty="0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— </a:t>
            </a:r>
            <a:r>
              <a:rPr lang="en-US" sz="1500" b="0" i="1" u="none" strike="noStrike" cap="none" dirty="0" err="1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muốn</a:t>
            </a:r>
            <a:r>
              <a:rPr lang="en-US" sz="1500" b="0" i="1" u="none" strike="noStrike" cap="none" dirty="0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</a:t>
            </a:r>
            <a:r>
              <a:rPr lang="en-US" sz="1500" b="0" i="1" u="none" strike="noStrike" cap="none" dirty="0" err="1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thay</a:t>
            </a:r>
            <a:r>
              <a:rPr lang="en-US" sz="1500" b="0" i="1" u="none" strike="noStrike" cap="none" dirty="0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</a:t>
            </a:r>
            <a:r>
              <a:rPr lang="en-US" sz="1500" b="0" i="1" u="none" strike="noStrike" cap="none" dirty="0" err="1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cái</a:t>
            </a:r>
            <a:r>
              <a:rPr lang="en-US" sz="1500" b="0" i="1" u="none" strike="noStrike" cap="none" dirty="0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ổ </a:t>
            </a:r>
            <a:r>
              <a:rPr lang="en-US" sz="1500" b="0" i="1" u="none" strike="noStrike" cap="none" dirty="0" err="1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điện</a:t>
            </a:r>
            <a:r>
              <a:rPr lang="en-US" sz="1500" b="0" i="1" u="none" strike="noStrike" cap="none" dirty="0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</a:t>
            </a:r>
            <a:r>
              <a:rPr lang="en-US" sz="1500" b="0" i="1" u="none" strike="noStrike" cap="none" dirty="0" err="1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cũng</a:t>
            </a:r>
            <a:r>
              <a:rPr lang="en-US" sz="1500" b="0" i="1" u="none" strike="noStrike" cap="none" dirty="0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</a:t>
            </a:r>
            <a:r>
              <a:rPr lang="en-US" sz="1500" b="0" i="1" u="none" strike="noStrike" cap="none" dirty="0" err="1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phải</a:t>
            </a:r>
            <a:r>
              <a:rPr lang="en-US" sz="1500" b="0" i="1" u="none" strike="noStrike" cap="none" dirty="0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</a:t>
            </a:r>
            <a:r>
              <a:rPr lang="en-US" sz="1500" b="0" i="1" u="none" strike="noStrike" cap="none" dirty="0" err="1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đập</a:t>
            </a:r>
            <a:r>
              <a:rPr lang="en-US" sz="1500" b="0" i="1" u="none" strike="noStrike" cap="none" dirty="0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</a:t>
            </a:r>
            <a:r>
              <a:rPr lang="en-US" sz="1500" b="0" i="1" u="none" strike="noStrike" cap="none" dirty="0" err="1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cả</a:t>
            </a:r>
            <a:r>
              <a:rPr lang="en-US" sz="1500" b="0" i="1" u="none" strike="noStrike" cap="none" dirty="0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</a:t>
            </a:r>
            <a:r>
              <a:rPr lang="en-US" sz="1500" b="0" i="1" u="none" strike="noStrike" cap="none" dirty="0" err="1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bức</a:t>
            </a:r>
            <a:r>
              <a:rPr lang="en-US" sz="1500" b="0" i="1" u="none" strike="noStrike" cap="none" dirty="0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</a:t>
            </a:r>
            <a:r>
              <a:rPr lang="en-US" sz="1500" b="0" i="1" u="none" strike="noStrike" cap="none" dirty="0" err="1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tường</a:t>
            </a:r>
            <a:r>
              <a:rPr lang="en-US" sz="1500" b="0" i="1" u="none" strike="noStrike" cap="none" dirty="0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." 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DAEB38-9A9B-7F9F-ADD2-0DBDF0961A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2742" y="939587"/>
            <a:ext cx="5234385" cy="54103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DEB7EA-F9BB-2364-D40A-38C567DAAA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0586" y="939587"/>
            <a:ext cx="6084591" cy="4024299"/>
          </a:xfrm>
          <a:prstGeom prst="rect">
            <a:avLst/>
          </a:prstGeom>
        </p:spPr>
      </p:pic>
    </p:spTree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animBg="1"/>
      <p:bldP spid="122" grpId="0" animBg="1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633EAD44-E3FA-4071-D7F3-28980CA62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>
            <a:extLst>
              <a:ext uri="{FF2B5EF4-FFF2-40B4-BE49-F238E27FC236}">
                <a16:creationId xmlns:a16="http://schemas.microsoft.com/office/drawing/2014/main" id="{BD5014EF-C0BE-B51D-B699-9FCA9C9DA03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2D9E11-AC0B-E650-E3AD-F6AEFA0035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298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87398A4-0384-722C-C4B1-099DB50900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161" y="1259878"/>
            <a:ext cx="11999961" cy="5415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426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vortex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 txBox="1"/>
          <p:nvPr/>
        </p:nvSpPr>
        <p:spPr>
          <a:xfrm>
            <a:off x="476250" y="381000"/>
            <a:ext cx="7620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dirty="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CƠ CHẾ HOẠT ĐỘNG </a:t>
            </a:r>
            <a:r>
              <a:rPr lang="en-US" sz="3200" b="0" dirty="0">
                <a:solidFill>
                  <a:srgbClr val="00FFC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(IoC FLOW)</a:t>
            </a:r>
            <a:endParaRPr sz="3200" b="0" dirty="0">
              <a:solidFill>
                <a:srgbClr val="FFFFFF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pic>
        <p:nvPicPr>
          <p:cNvPr id="132" name="Google Shape;132;p16"/>
          <p:cNvPicPr preferRelativeResize="0"/>
          <p:nvPr/>
        </p:nvPicPr>
        <p:blipFill rotWithShape="1">
          <a:blip r:embed="rId4">
            <a:alphaModFix/>
          </a:blip>
          <a:srcRect l="855" r="855"/>
          <a:stretch/>
        </p:blipFill>
        <p:spPr>
          <a:xfrm>
            <a:off x="9525000" y="428625"/>
            <a:ext cx="2190900" cy="33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5E9ECD-6365-5715-6A01-8840A26FB1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873600"/>
            <a:ext cx="12192000" cy="57500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F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849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/>
          <p:nvPr/>
        </p:nvSpPr>
        <p:spPr>
          <a:xfrm>
            <a:off x="866775" y="390525"/>
            <a:ext cx="6970871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TRỰC QUAN HÓA: "VÍ DỤ BÁT PHỞ"</a:t>
            </a:r>
            <a:endParaRPr dirty="0"/>
          </a:p>
        </p:txBody>
      </p:sp>
      <p:pic>
        <p:nvPicPr>
          <p:cNvPr id="175" name="Google Shape;17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53575" y="438150"/>
            <a:ext cx="21526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775" y="452437"/>
            <a:ext cx="23812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 txBox="1"/>
          <p:nvPr/>
        </p:nvSpPr>
        <p:spPr>
          <a:xfrm>
            <a:off x="626506" y="5675948"/>
            <a:ext cx="4970621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 err="1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Tự</a:t>
            </a:r>
            <a:r>
              <a:rPr lang="en-US" sz="1950" b="0" i="0" u="none" strike="noStrike" cap="none" dirty="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</a:t>
            </a:r>
            <a:r>
              <a:rPr lang="en-US" sz="1950" b="0" i="0" u="none" strike="noStrike" cap="none" dirty="0" err="1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đi</a:t>
            </a:r>
            <a:r>
              <a:rPr lang="en-US" sz="1950" b="0" i="0" u="none" strike="noStrike" cap="none" dirty="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</a:t>
            </a:r>
            <a:r>
              <a:rPr lang="en-US" sz="1950" b="0" i="0" u="none" strike="noStrike" cap="none" dirty="0" err="1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chợ</a:t>
            </a:r>
            <a:r>
              <a:rPr lang="en-US" sz="1950" b="0" i="0" u="none" strike="noStrike" cap="none" dirty="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, </a:t>
            </a:r>
            <a:r>
              <a:rPr lang="en-US" sz="1950" b="0" i="0" u="none" strike="noStrike" cap="none" dirty="0" err="1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tự</a:t>
            </a:r>
            <a:r>
              <a:rPr lang="en-US" sz="1950" b="0" i="0" u="none" strike="noStrike" cap="none" dirty="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</a:t>
            </a:r>
            <a:r>
              <a:rPr lang="en-US" sz="1950" b="0" i="0" u="none" strike="noStrike" cap="none" dirty="0" err="1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nấu</a:t>
            </a:r>
            <a:endParaRPr dirty="0"/>
          </a:p>
        </p:txBody>
      </p:sp>
      <p:sp>
        <p:nvSpPr>
          <p:cNvPr id="178" name="Google Shape;178;p17"/>
          <p:cNvSpPr txBox="1"/>
          <p:nvPr/>
        </p:nvSpPr>
        <p:spPr>
          <a:xfrm>
            <a:off x="411480" y="6085523"/>
            <a:ext cx="50673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Phụ</a:t>
            </a:r>
            <a:r>
              <a:rPr lang="en-US" sz="1350" b="0" i="0" u="none" strike="noStrike" cap="none" dirty="0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thuộc</a:t>
            </a:r>
            <a:r>
              <a:rPr lang="en-US" sz="1350" b="0" i="0" u="none" strike="noStrike" cap="none" dirty="0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cứng</a:t>
            </a:r>
            <a:r>
              <a:rPr lang="en-US" sz="1350" b="0" i="0" u="none" strike="noStrike" cap="none" dirty="0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vào</a:t>
            </a:r>
            <a:r>
              <a:rPr lang="en-US" sz="1350" b="0" i="0" u="none" strike="noStrike" cap="none" dirty="0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nguyên</a:t>
            </a:r>
            <a:r>
              <a:rPr lang="en-US" sz="1350" b="0" i="0" u="none" strike="noStrike" cap="none" dirty="0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liệu</a:t>
            </a:r>
            <a:r>
              <a:rPr lang="en-US" sz="1350" b="0" i="0" u="none" strike="noStrike" cap="none" dirty="0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cụ</a:t>
            </a:r>
            <a:r>
              <a:rPr lang="en-US" sz="1350" b="0" i="0" u="none" strike="noStrike" cap="none" dirty="0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thể</a:t>
            </a:r>
            <a:r>
              <a:rPr lang="en-US" sz="1350" b="0" i="0" u="none" strike="noStrike" cap="none" dirty="0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</a:t>
            </a:r>
            <a:r>
              <a:rPr lang="en-US" sz="1350" b="0" i="0" u="none" strike="noStrike" cap="none" dirty="0" err="1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Muốn</a:t>
            </a:r>
            <a:r>
              <a:rPr lang="en-US" sz="1350" b="0" i="0" u="none" strike="noStrike" cap="none" dirty="0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đổi</a:t>
            </a:r>
            <a:r>
              <a:rPr lang="en-US" sz="1350" b="0" i="0" u="none" strike="noStrike" cap="none" dirty="0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món</a:t>
            </a:r>
            <a:r>
              <a:rPr lang="en-US" sz="1350" b="0" i="0" u="none" strike="noStrike" cap="none" dirty="0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phải</a:t>
            </a:r>
            <a:r>
              <a:rPr lang="en-US" sz="1350" b="0" i="0" u="none" strike="noStrike" cap="none" dirty="0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đập</a:t>
            </a:r>
            <a:r>
              <a:rPr lang="en-US" sz="1350" b="0" i="0" u="none" strike="noStrike" cap="none" dirty="0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đi</a:t>
            </a:r>
            <a:r>
              <a:rPr lang="en-US" sz="1350" b="0" i="0" u="none" strike="noStrike" cap="none" dirty="0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làm</a:t>
            </a:r>
            <a:r>
              <a:rPr lang="en-US" sz="1350" b="0" i="0" u="none" strike="noStrike" cap="none" dirty="0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lại</a:t>
            </a:r>
            <a:r>
              <a:rPr lang="en-US" sz="1350" b="0" i="0" u="none" strike="noStrike" cap="none" dirty="0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từ</a:t>
            </a:r>
            <a:r>
              <a:rPr lang="en-US" sz="1350" b="0" i="0" u="none" strike="noStrike" cap="none" dirty="0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đầu</a:t>
            </a:r>
            <a:r>
              <a:rPr lang="en-US" sz="1350" b="0" i="0" u="none" strike="noStrike" cap="none" dirty="0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(Tight Coupling)</a:t>
            </a:r>
            <a:endParaRPr dirty="0"/>
          </a:p>
        </p:txBody>
      </p:sp>
      <p:sp>
        <p:nvSpPr>
          <p:cNvPr id="179" name="Google Shape;179;p17"/>
          <p:cNvSpPr txBox="1"/>
          <p:nvPr/>
        </p:nvSpPr>
        <p:spPr>
          <a:xfrm>
            <a:off x="6408896" y="5675948"/>
            <a:ext cx="4940617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 err="1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Gọi</a:t>
            </a:r>
            <a:r>
              <a:rPr lang="en-US" sz="1950" b="0" i="0" u="none" strike="noStrike" cap="none" dirty="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</a:t>
            </a:r>
            <a:r>
              <a:rPr lang="en-US" sz="1950" b="0" i="0" u="none" strike="noStrike" cap="none" dirty="0" err="1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món</a:t>
            </a:r>
            <a:r>
              <a:rPr lang="en-US" sz="1950" b="0" i="0" u="none" strike="noStrike" cap="none" dirty="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ở </a:t>
            </a:r>
            <a:r>
              <a:rPr lang="en-US" sz="1950" b="0" i="0" u="none" strike="noStrike" cap="none" dirty="0" err="1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Nhà</a:t>
            </a:r>
            <a:r>
              <a:rPr lang="en-US" sz="1950" b="0" i="0" u="none" strike="noStrike" cap="none" dirty="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</a:t>
            </a:r>
            <a:r>
              <a:rPr lang="en-US" sz="1950" b="0" i="0" u="none" strike="noStrike" cap="none" dirty="0" err="1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hàng</a:t>
            </a:r>
            <a:endParaRPr dirty="0"/>
          </a:p>
        </p:txBody>
      </p:sp>
      <p:sp>
        <p:nvSpPr>
          <p:cNvPr id="180" name="Google Shape;180;p17"/>
          <p:cNvSpPr txBox="1"/>
          <p:nvPr/>
        </p:nvSpPr>
        <p:spPr>
          <a:xfrm>
            <a:off x="6164580" y="6085523"/>
            <a:ext cx="50673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Chỉ</a:t>
            </a:r>
            <a:r>
              <a:rPr lang="en-US" sz="1350" b="0" i="0" u="none" strike="noStrike" cap="none" dirty="0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cần</a:t>
            </a:r>
            <a:r>
              <a:rPr lang="en-US" sz="1350" b="0" i="0" u="none" strike="noStrike" cap="none" dirty="0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giao</a:t>
            </a:r>
            <a:r>
              <a:rPr lang="en-US" sz="1350" b="0" i="0" u="none" strike="noStrike" cap="none" dirty="0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tiếp</a:t>
            </a:r>
            <a:r>
              <a:rPr lang="en-US" sz="1350" b="0" i="0" u="none" strike="noStrike" cap="none" dirty="0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qua </a:t>
            </a:r>
            <a:r>
              <a:rPr lang="en-US" sz="1350" b="0" i="0" u="none" strike="noStrike" cap="none" dirty="0" err="1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thực</a:t>
            </a:r>
            <a:r>
              <a:rPr lang="en-US" sz="1350" b="0" i="0" u="none" strike="noStrike" cap="none" dirty="0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đơn</a:t>
            </a:r>
            <a:r>
              <a:rPr lang="en-US" sz="1350" b="0" i="0" u="none" strike="noStrike" cap="none" dirty="0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(Interface). </a:t>
            </a:r>
            <a:r>
              <a:rPr lang="en-US" sz="1350" b="0" i="0" u="none" strike="noStrike" cap="none" dirty="0" err="1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Đầu</a:t>
            </a:r>
            <a:r>
              <a:rPr lang="en-US" sz="1350" b="0" i="0" u="none" strike="noStrike" cap="none" dirty="0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bếp</a:t>
            </a:r>
            <a:r>
              <a:rPr lang="en-US" sz="1350" b="0" i="0" u="none" strike="noStrike" cap="none" dirty="0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(Container) lo </a:t>
            </a:r>
            <a:r>
              <a:rPr lang="en-US" sz="1350" b="0" i="0" u="none" strike="noStrike" cap="none" dirty="0" err="1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liệu</a:t>
            </a:r>
            <a:r>
              <a:rPr lang="en-US" sz="1350" b="0" i="0" u="none" strike="noStrike" cap="none" dirty="0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mọi</a:t>
            </a:r>
            <a:r>
              <a:rPr lang="en-US" sz="1350" b="0" i="0" u="none" strike="noStrike" cap="none" dirty="0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thứ</a:t>
            </a:r>
            <a:r>
              <a:rPr lang="en-US" sz="1350" b="0" i="0" u="none" strike="noStrike" cap="none" dirty="0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(Loose Coupling)</a:t>
            </a:r>
            <a:endParaRPr dirty="0"/>
          </a:p>
        </p:txBody>
      </p:sp>
      <p:pic>
        <p:nvPicPr>
          <p:cNvPr id="182" name="Google Shape;18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68792" y="5709286"/>
            <a:ext cx="1905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12342" y="5709286"/>
            <a:ext cx="2190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15BF9E9-0999-E0CE-B764-41C9174196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6470" y="1181099"/>
            <a:ext cx="4410691" cy="42392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21200F-3E61-45C5-E96D-7387E04D3A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2503" y="1077986"/>
            <a:ext cx="4593401" cy="438675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2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" grpId="0"/>
      <p:bldP spid="178" grpId="0"/>
      <p:bldP spid="179" grpId="0"/>
      <p:bldP spid="18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F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846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8"/>
          <p:cNvSpPr txBox="1"/>
          <p:nvPr/>
        </p:nvSpPr>
        <p:spPr>
          <a:xfrm>
            <a:off x="942975" y="390525"/>
            <a:ext cx="574071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BA KIỂU INJECTION SO SÁNH</a:t>
            </a:r>
            <a:endParaRPr dirty="0"/>
          </a:p>
        </p:txBody>
      </p:sp>
      <p:pic>
        <p:nvPicPr>
          <p:cNvPr id="199" name="Google Shape;19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20300" y="438150"/>
            <a:ext cx="168592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775" y="452437"/>
            <a:ext cx="31432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8A4D0A-0E91-ED7F-40AF-8D4981C2D5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285290"/>
            <a:ext cx="4152061" cy="55727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AF22B8-7E90-269B-D0D7-740C6CB67A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1593" y="1351716"/>
            <a:ext cx="3741100" cy="53669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794B64-009A-72B8-5571-5C5D507B95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0330" y="1351716"/>
            <a:ext cx="3860800" cy="54416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" y="0"/>
            <a:ext cx="12191144" cy="6857519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" y="0"/>
            <a:ext cx="12191144" cy="6857519"/>
          </a:xfrm>
          <a:prstGeom prst="rect">
            <a:avLst/>
          </a:prstGeom>
        </p:spPr>
      </p:pic>
      <p:pic>
        <p:nvPicPr>
          <p:cNvPr id="4" name="Hình ảnh 3">
            <a:extLst>
              <a:ext uri="{FF2B5EF4-FFF2-40B4-BE49-F238E27FC236}">
                <a16:creationId xmlns:a16="http://schemas.microsoft.com/office/drawing/2014/main" id="{7D23C34A-FDDE-966F-8166-8C22163AF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652" y="1837364"/>
            <a:ext cx="5604387" cy="4114614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" y="0"/>
            <a:ext cx="12191144" cy="6857519"/>
          </a:xfrm>
          <a:prstGeom prst="rect">
            <a:avLst/>
          </a:prstGeom>
        </p:spPr>
      </p:pic>
      <p:pic>
        <p:nvPicPr>
          <p:cNvPr id="4" name="Hình ảnh 3">
            <a:extLst>
              <a:ext uri="{FF2B5EF4-FFF2-40B4-BE49-F238E27FC236}">
                <a16:creationId xmlns:a16="http://schemas.microsoft.com/office/drawing/2014/main" id="{9204C95B-FD9D-501C-A6E7-2B5002957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039" y="1929087"/>
            <a:ext cx="5447845" cy="39655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" y="0"/>
            <a:ext cx="12191144" cy="6857519"/>
          </a:xfrm>
          <a:prstGeom prst="rect">
            <a:avLst/>
          </a:prstGeom>
        </p:spPr>
      </p:pic>
      <p:pic>
        <p:nvPicPr>
          <p:cNvPr id="4" name="Hình ảnh 3">
            <a:extLst>
              <a:ext uri="{FF2B5EF4-FFF2-40B4-BE49-F238E27FC236}">
                <a16:creationId xmlns:a16="http://schemas.microsoft.com/office/drawing/2014/main" id="{92AC6B77-CDC5-6B9C-D8F0-503E3A726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813" y="1895745"/>
            <a:ext cx="5525729" cy="4100756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" y="0"/>
            <a:ext cx="12191144" cy="68575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" y="0"/>
            <a:ext cx="12191144" cy="68575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" y="0"/>
            <a:ext cx="12191144" cy="6857519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" y="0"/>
            <a:ext cx="12191144" cy="6857519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E2D51-7A3A-1388-6705-1AF1414864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A806B4-6047-D9ED-1B77-A7E026D9D2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3E682792-AD88-1BBE-82AA-B20892D85B7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367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hred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F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1314450"/>
            <a:ext cx="5467350" cy="306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314450"/>
            <a:ext cx="5467350" cy="3067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9"/>
          <p:cNvSpPr txBox="1"/>
          <p:nvPr/>
        </p:nvSpPr>
        <p:spPr>
          <a:xfrm>
            <a:off x="1019175" y="390525"/>
            <a:ext cx="7210901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ĐÁNH ĐỔI (TRADE-OFFS) &amp; TIÊU CHÍ</a:t>
            </a:r>
            <a:endParaRPr dirty="0"/>
          </a:p>
        </p:txBody>
      </p:sp>
      <p:pic>
        <p:nvPicPr>
          <p:cNvPr id="222" name="Google Shape;22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48875" y="438150"/>
            <a:ext cx="16573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9"/>
          <p:cNvSpPr/>
          <p:nvPr/>
        </p:nvSpPr>
        <p:spPr>
          <a:xfrm>
            <a:off x="485775" y="4667250"/>
            <a:ext cx="11220450" cy="1695450"/>
          </a:xfrm>
          <a:prstGeom prst="roundRect">
            <a:avLst>
              <a:gd name="adj" fmla="val 0"/>
            </a:avLst>
          </a:prstGeom>
          <a:solidFill>
            <a:srgbClr val="121216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4" name="Google Shape;224;p19"/>
          <p:cNvGraphicFramePr/>
          <p:nvPr>
            <p:extLst>
              <p:ext uri="{D42A27DB-BD31-4B8C-83A1-F6EECF244321}">
                <p14:modId xmlns:p14="http://schemas.microsoft.com/office/powerpoint/2010/main" val="3292585728"/>
              </p:ext>
            </p:extLst>
          </p:nvPr>
        </p:nvGraphicFramePr>
        <p:xfrm>
          <a:off x="485775" y="4667250"/>
          <a:ext cx="11210925" cy="1695450"/>
        </p:xfrm>
        <a:graphic>
          <a:graphicData uri="http://schemas.openxmlformats.org/drawingml/2006/table">
            <a:tbl>
              <a:tblPr firstRow="1" bandRow="1">
                <a:noFill/>
                <a:tableStyleId>{81573FFC-9CB3-4FC3-9045-9A6CBB673AC8}</a:tableStyleId>
              </a:tblPr>
              <a:tblGrid>
                <a:gridCol w="545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5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00FFCC"/>
                          </a:solidFill>
                          <a:latin typeface="Plus Jakarta Sans ExtraBold"/>
                          <a:ea typeface="Plus Jakarta Sans ExtraBold"/>
                          <a:cs typeface="Plus Jakarta Sans ExtraBold"/>
                          <a:sym typeface="Plus Jakarta Sans ExtraBold"/>
                        </a:rPr>
                        <a:t>       KHI NÀO NÊN DÙNG?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FF3366"/>
                          </a:solidFill>
                          <a:latin typeface="Plus Jakarta Sans ExtraBold"/>
                          <a:ea typeface="Plus Jakarta Sans ExtraBold"/>
                          <a:cs typeface="Plus Jakarta Sans ExtraBold"/>
                          <a:sym typeface="Plus Jakarta Sans ExtraBold"/>
                        </a:rPr>
                        <a:t> KHI NÀO KHÔNG NÊN?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highlight>
                          <a:srgbClr val="000000"/>
                        </a:highlight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highlight>
                          <a:srgbClr val="000000"/>
                        </a:highlight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highlight>
                          <a:srgbClr val="000000"/>
                        </a:highlight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highlight>
                          <a:srgbClr val="000000"/>
                        </a:highlight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25" name="Google Shape;225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5775" y="452437"/>
            <a:ext cx="39052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9"/>
          <p:cNvSpPr/>
          <p:nvPr/>
        </p:nvSpPr>
        <p:spPr>
          <a:xfrm>
            <a:off x="490537" y="5243512"/>
            <a:ext cx="545603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5946576" y="5243512"/>
            <a:ext cx="575488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 txBox="1"/>
          <p:nvPr/>
        </p:nvSpPr>
        <p:spPr>
          <a:xfrm>
            <a:off x="1019175" y="1609725"/>
            <a:ext cx="477059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Ưu Điểm (Pros)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7077075" y="1609725"/>
            <a:ext cx="445055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Nhược Điểm (Cons)</a:t>
            </a:r>
            <a:endParaRPr/>
          </a:p>
        </p:txBody>
      </p:sp>
      <p:sp>
        <p:nvSpPr>
          <p:cNvPr id="230" name="Google Shape;230;p19"/>
          <p:cNvSpPr/>
          <p:nvPr/>
        </p:nvSpPr>
        <p:spPr>
          <a:xfrm>
            <a:off x="490537" y="5795962"/>
            <a:ext cx="545603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5946576" y="5795962"/>
            <a:ext cx="575488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 txBox="1"/>
          <p:nvPr/>
        </p:nvSpPr>
        <p:spPr>
          <a:xfrm>
            <a:off x="1190625" y="2228850"/>
            <a:ext cx="437197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Loose Coupling: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Thay thế implementation dễ dàng.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1190625" y="2847975"/>
            <a:ext cx="43719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Testability: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Mock dependency siêu dễ.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1190625" y="3228975"/>
            <a:ext cx="43719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SOLID: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Hỗ trợ hoàn hảo OCP và DIP.</a:t>
            </a:r>
            <a:endParaRPr/>
          </a:p>
        </p:txBody>
      </p:sp>
      <p:pic>
        <p:nvPicPr>
          <p:cNvPr id="235" name="Google Shape;235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29400" y="164782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9"/>
          <p:cNvSpPr txBox="1"/>
          <p:nvPr/>
        </p:nvSpPr>
        <p:spPr>
          <a:xfrm>
            <a:off x="6915150" y="2228850"/>
            <a:ext cx="44005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Learning Curve: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Team cần làm quen với Interface.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6915150" y="2847975"/>
            <a:ext cx="44005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Hard to Trace: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Phải debug qua nhiều lớp trừu tượng.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6915150" y="3467100"/>
            <a:ext cx="44005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Over-engineering: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Làm dự án nhỏ trở nên cồng kềnh.</a:t>
            </a:r>
            <a:endParaRPr/>
          </a:p>
        </p:txBody>
      </p:sp>
      <p:pic>
        <p:nvPicPr>
          <p:cNvPr id="239" name="Google Shape;239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36472" y="486988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56076" y="4843463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76300" y="22240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76300" y="28432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76300" y="32242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629400" y="2224087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629400" y="2843212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629400" y="3462337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50D5E82-8AB5-1343-FCE2-EDE5DBEAFBF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6251" y="5164528"/>
            <a:ext cx="11229974" cy="11981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2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3" dur="2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9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" grpId="0" animBg="1"/>
      <p:bldP spid="226" grpId="0" animBg="1"/>
      <p:bldP spid="227" grpId="0" animBg="1"/>
      <p:bldP spid="228" grpId="0"/>
      <p:bldP spid="229" grpId="0"/>
      <p:bldP spid="230" grpId="0" animBg="1"/>
      <p:bldP spid="231" grpId="0" animBg="1"/>
      <p:bldP spid="232" grpId="0"/>
      <p:bldP spid="233" grpId="0"/>
      <p:bldP spid="234" grpId="0"/>
      <p:bldP spid="236" grpId="0"/>
      <p:bldP spid="237" grpId="0"/>
      <p:bldP spid="23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F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1685925"/>
            <a:ext cx="11220450" cy="47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52950" y="3400425"/>
            <a:ext cx="2381250" cy="1352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0"/>
          <p:cNvSpPr txBox="1"/>
          <p:nvPr/>
        </p:nvSpPr>
        <p:spPr>
          <a:xfrm>
            <a:off x="981075" y="390525"/>
            <a:ext cx="734091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CASE STUDY: HỆ THỐNG ĐẶT VÉ PHIM</a:t>
            </a:r>
            <a:endParaRPr dirty="0"/>
          </a:p>
        </p:txBody>
      </p:sp>
      <p:pic>
        <p:nvPicPr>
          <p:cNvPr id="255" name="Google Shape;25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67800" y="438150"/>
            <a:ext cx="263842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0"/>
          <p:cNvSpPr txBox="1"/>
          <p:nvPr/>
        </p:nvSpPr>
        <p:spPr>
          <a:xfrm>
            <a:off x="485775" y="1209675"/>
            <a:ext cx="112204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Mô hình: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Hệ thống cần trừ tiền (Payment), lưu DB và gửi Zalo (Notification).</a:t>
            </a:r>
            <a:endParaRPr/>
          </a:p>
        </p:txBody>
      </p:sp>
      <p:pic>
        <p:nvPicPr>
          <p:cNvPr id="257" name="Google Shape;257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5775" y="452437"/>
            <a:ext cx="35242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85837" y="3429000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0"/>
          <p:cNvSpPr txBox="1"/>
          <p:nvPr/>
        </p:nvSpPr>
        <p:spPr>
          <a:xfrm>
            <a:off x="746998" y="4524375"/>
            <a:ext cx="1430178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000000"/>
                </a:solidFill>
                <a:highlight>
                  <a:srgbClr val="C0C0C0"/>
                </a:highlight>
                <a:latin typeface="Plus Jakarta Sans"/>
                <a:ea typeface="Plus Jakarta Sans"/>
                <a:cs typeface="Plus Jakarta Sans"/>
                <a:sym typeface="Plus Jakarta Sans"/>
              </a:rPr>
              <a:t>BookingController</a:t>
            </a:r>
            <a:endParaRPr dirty="0">
              <a:highlight>
                <a:srgbClr val="C0C0C0"/>
              </a:highlight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3143250" y="3762375"/>
            <a:ext cx="4095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Inject</a:t>
            </a:r>
            <a:endParaRPr/>
          </a:p>
        </p:txBody>
      </p:sp>
      <p:pic>
        <p:nvPicPr>
          <p:cNvPr id="261" name="Google Shape;261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157537" y="40100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0"/>
          <p:cNvSpPr txBox="1"/>
          <p:nvPr/>
        </p:nvSpPr>
        <p:spPr>
          <a:xfrm>
            <a:off x="4703445" y="3600450"/>
            <a:ext cx="208026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BookingService</a:t>
            </a:r>
            <a:endParaRPr dirty="0"/>
          </a:p>
        </p:txBody>
      </p:sp>
      <p:sp>
        <p:nvSpPr>
          <p:cNvPr id="263" name="Google Shape;263;p20"/>
          <p:cNvSpPr txBox="1"/>
          <p:nvPr/>
        </p:nvSpPr>
        <p:spPr>
          <a:xfrm>
            <a:off x="4752975" y="3943350"/>
            <a:ext cx="19812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678D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_db: IDatabase</a:t>
            </a:r>
            <a:endParaRPr/>
          </a:p>
        </p:txBody>
      </p:sp>
      <p:sp>
        <p:nvSpPr>
          <p:cNvPr id="264" name="Google Shape;264;p20"/>
          <p:cNvSpPr txBox="1"/>
          <p:nvPr/>
        </p:nvSpPr>
        <p:spPr>
          <a:xfrm>
            <a:off x="4752975" y="4162425"/>
            <a:ext cx="19812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678D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_payment: IPaymentGateway</a:t>
            </a:r>
            <a:endParaRPr/>
          </a:p>
        </p:txBody>
      </p:sp>
      <p:sp>
        <p:nvSpPr>
          <p:cNvPr id="265" name="Google Shape;265;p20"/>
          <p:cNvSpPr txBox="1"/>
          <p:nvPr/>
        </p:nvSpPr>
        <p:spPr>
          <a:xfrm>
            <a:off x="4752975" y="4381500"/>
            <a:ext cx="19812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678D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_noti: INotification</a:t>
            </a:r>
            <a:endParaRPr/>
          </a:p>
        </p:txBody>
      </p:sp>
      <p:sp>
        <p:nvSpPr>
          <p:cNvPr id="266" name="Google Shape;266;p20"/>
          <p:cNvSpPr txBox="1"/>
          <p:nvPr/>
        </p:nvSpPr>
        <p:spPr>
          <a:xfrm>
            <a:off x="7934325" y="3762375"/>
            <a:ext cx="5619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Thực thi</a:t>
            </a:r>
            <a:endParaRPr/>
          </a:p>
        </p:txBody>
      </p:sp>
      <p:pic>
        <p:nvPicPr>
          <p:cNvPr id="267" name="Google Shape;267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024812" y="40100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247775" y="371475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367962" y="3071812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0"/>
          <p:cNvSpPr txBox="1"/>
          <p:nvPr/>
        </p:nvSpPr>
        <p:spPr>
          <a:xfrm>
            <a:off x="9578578" y="3309937"/>
            <a:ext cx="1750218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 err="1">
                <a:solidFill>
                  <a:srgbClr val="000000"/>
                </a:solidFill>
                <a:highlight>
                  <a:srgbClr val="C0C0C0"/>
                </a:highlight>
                <a:latin typeface="Plus Jakarta Sans"/>
                <a:ea typeface="Plus Jakarta Sans"/>
                <a:cs typeface="Plus Jakarta Sans"/>
                <a:sym typeface="Plus Jakarta Sans"/>
              </a:rPr>
              <a:t>PostgresDB.Save</a:t>
            </a:r>
            <a:r>
              <a:rPr lang="en-US" sz="1050" b="1" i="0" u="none" strike="noStrike" cap="none" dirty="0">
                <a:solidFill>
                  <a:srgbClr val="000000"/>
                </a:solidFill>
                <a:highlight>
                  <a:srgbClr val="C0C0C0"/>
                </a:highlight>
                <a:latin typeface="Plus Jakarta Sans"/>
                <a:ea typeface="Plus Jakarta Sans"/>
                <a:cs typeface="Plus Jakarta Sans"/>
                <a:sym typeface="Plus Jakarta Sans"/>
              </a:rPr>
              <a:t>()</a:t>
            </a:r>
            <a:endParaRPr dirty="0">
              <a:highlight>
                <a:srgbClr val="C0C0C0"/>
              </a:highlight>
            </a:endParaRPr>
          </a:p>
        </p:txBody>
      </p:sp>
      <p:pic>
        <p:nvPicPr>
          <p:cNvPr id="271" name="Google Shape;271;p20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344150" y="3871912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0"/>
          <p:cNvSpPr txBox="1"/>
          <p:nvPr/>
        </p:nvSpPr>
        <p:spPr>
          <a:xfrm>
            <a:off x="9578578" y="4110037"/>
            <a:ext cx="1750218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 err="1">
                <a:solidFill>
                  <a:srgbClr val="000000"/>
                </a:solidFill>
                <a:highlight>
                  <a:srgbClr val="C0C0C0"/>
                </a:highlight>
                <a:latin typeface="Plus Jakarta Sans"/>
                <a:ea typeface="Plus Jakarta Sans"/>
                <a:cs typeface="Plus Jakarta Sans"/>
                <a:sym typeface="Plus Jakarta Sans"/>
              </a:rPr>
              <a:t>VNPayGateway.Charge</a:t>
            </a:r>
            <a:r>
              <a:rPr lang="en-US" sz="1050" b="1" i="0" u="none" strike="noStrike" cap="none" dirty="0">
                <a:solidFill>
                  <a:srgbClr val="000000"/>
                </a:solidFill>
                <a:highlight>
                  <a:srgbClr val="C0C0C0"/>
                </a:highlight>
                <a:latin typeface="Plus Jakarta Sans"/>
                <a:ea typeface="Plus Jakarta Sans"/>
                <a:cs typeface="Plus Jakarta Sans"/>
                <a:sym typeface="Plus Jakarta Sans"/>
              </a:rPr>
              <a:t>()</a:t>
            </a:r>
            <a:endParaRPr dirty="0">
              <a:highlight>
                <a:srgbClr val="C0C0C0"/>
              </a:highlight>
            </a:endParaRPr>
          </a:p>
        </p:txBody>
      </p:sp>
      <p:pic>
        <p:nvPicPr>
          <p:cNvPr id="273" name="Google Shape;273;p20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358437" y="4672012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0"/>
          <p:cNvSpPr txBox="1"/>
          <p:nvPr/>
        </p:nvSpPr>
        <p:spPr>
          <a:xfrm>
            <a:off x="9578578" y="4910137"/>
            <a:ext cx="1750218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 err="1">
                <a:solidFill>
                  <a:srgbClr val="000000"/>
                </a:solidFill>
                <a:highlight>
                  <a:srgbClr val="C0C0C0"/>
                </a:highlight>
                <a:latin typeface="Plus Jakarta Sans"/>
                <a:ea typeface="Plus Jakarta Sans"/>
                <a:cs typeface="Plus Jakarta Sans"/>
                <a:sym typeface="Plus Jakarta Sans"/>
              </a:rPr>
              <a:t>ZaloOANoti.Send</a:t>
            </a:r>
            <a:r>
              <a:rPr lang="en-US" sz="1050" b="1" i="0" u="none" strike="noStrike" cap="none" dirty="0">
                <a:solidFill>
                  <a:srgbClr val="000000"/>
                </a:solidFill>
                <a:highlight>
                  <a:srgbClr val="C0C0C0"/>
                </a:highlight>
                <a:latin typeface="Plus Jakarta Sans"/>
                <a:ea typeface="Plus Jakarta Sans"/>
                <a:cs typeface="Plus Jakarta Sans"/>
                <a:sym typeface="Plus Jakarta Sans"/>
              </a:rPr>
              <a:t>()</a:t>
            </a:r>
            <a:endParaRPr dirty="0">
              <a:highlight>
                <a:srgbClr val="C0C0C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" grpId="0"/>
      <p:bldP spid="260" grpId="0"/>
      <p:bldP spid="262" grpId="0"/>
      <p:bldP spid="263" grpId="0"/>
      <p:bldP spid="264" grpId="0"/>
      <p:bldP spid="265" grpId="0"/>
      <p:bldP spid="266" grpId="0"/>
      <p:bldP spid="270" grpId="0"/>
      <p:bldP spid="272" grpId="0"/>
      <p:bldP spid="27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F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954875" y="1552575"/>
            <a:ext cx="16849725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1309687"/>
            <a:ext cx="1906905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964400" y="1562100"/>
            <a:ext cx="1683067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1"/>
          <p:cNvSpPr txBox="1"/>
          <p:nvPr/>
        </p:nvSpPr>
        <p:spPr>
          <a:xfrm>
            <a:off x="866775" y="390525"/>
            <a:ext cx="519064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CẤU TRÚC CODE THỰC TẾ</a:t>
            </a:r>
            <a:endParaRPr dirty="0"/>
          </a:p>
        </p:txBody>
      </p:sp>
      <p:pic>
        <p:nvPicPr>
          <p:cNvPr id="285" name="Google Shape;285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67850" y="438150"/>
            <a:ext cx="22383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5775" y="452437"/>
            <a:ext cx="23812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1"/>
          <p:cNvSpPr txBox="1"/>
          <p:nvPr/>
        </p:nvSpPr>
        <p:spPr>
          <a:xfrm>
            <a:off x="20154900" y="2105025"/>
            <a:ext cx="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public class</a:t>
            </a:r>
            <a:r>
              <a:rPr lang="en-US" sz="1050" b="0" i="0" u="none" strike="noStrike" cap="none">
                <a:solidFill>
                  <a:srgbClr val="E0E0E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 b="0" i="0" u="none" strike="noStrike" cap="none">
                <a:solidFill>
                  <a:srgbClr val="E5C07B"/>
                </a:solidFill>
                <a:latin typeface="Fira Code"/>
                <a:ea typeface="Fira Code"/>
                <a:cs typeface="Fira Code"/>
                <a:sym typeface="Fira Code"/>
              </a:rPr>
              <a:t>BookingService</a:t>
            </a:r>
            <a:r>
              <a:rPr lang="en-US" sz="1050" b="0" i="0" u="none" strike="noStrike" cap="none">
                <a:solidFill>
                  <a:srgbClr val="E0E0E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 b="0" i="0" u="none" strike="noStrike" cap="none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{</a:t>
            </a:r>
            <a:r>
              <a:rPr lang="en-US" sz="1050" b="0" i="0" u="none" strike="noStrike" cap="none">
                <a:solidFill>
                  <a:srgbClr val="E0E0E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 b="0" i="1" u="none" strike="noStrike" cap="none">
                <a:solidFill>
                  <a:srgbClr val="7F848E"/>
                </a:solidFill>
                <a:latin typeface="Fira Code"/>
                <a:ea typeface="Fira Code"/>
                <a:cs typeface="Fira Code"/>
                <a:sym typeface="Fira Code"/>
              </a:rPr>
              <a:t>// Nhận DI qua Constructor</a:t>
            </a:r>
            <a:r>
              <a:rPr lang="en-US" sz="1050" b="0" i="0" u="none" strike="noStrike" cap="none">
                <a:solidFill>
                  <a:srgbClr val="E0E0E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 b="0" i="0" u="none" strike="noStrike" cap="non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public</a:t>
            </a:r>
            <a:r>
              <a:rPr lang="en-US" sz="1050" b="0" i="0" u="none" strike="noStrike" cap="none">
                <a:solidFill>
                  <a:srgbClr val="E0E0E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 b="0" i="0" u="none" strike="noStrike" cap="none">
                <a:solidFill>
                  <a:srgbClr val="61AFEF"/>
                </a:solidFill>
                <a:latin typeface="Fira Code"/>
                <a:ea typeface="Fira Code"/>
                <a:cs typeface="Fira Code"/>
                <a:sym typeface="Fira Code"/>
              </a:rPr>
              <a:t>BookingService</a:t>
            </a:r>
            <a:r>
              <a:rPr lang="en-US" sz="1050" b="0" i="0" u="none" strike="noStrike" cap="none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050" b="0" i="0" u="none" strike="noStrike" cap="none">
                <a:solidFill>
                  <a:srgbClr val="E5C07B"/>
                </a:solidFill>
                <a:latin typeface="Fira Code"/>
                <a:ea typeface="Fira Code"/>
                <a:cs typeface="Fira Code"/>
                <a:sym typeface="Fira Code"/>
              </a:rPr>
              <a:t>IDatabase</a:t>
            </a:r>
            <a:r>
              <a:rPr lang="en-US" sz="1050" b="0" i="0" u="none" strike="noStrike" cap="none">
                <a:solidFill>
                  <a:srgbClr val="E0E0E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 b="0" i="0" u="none" strike="noStrike" cap="none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db</a:t>
            </a:r>
            <a:r>
              <a:rPr lang="en-US" sz="1050" b="0" i="0" u="none" strike="noStrike" cap="none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,</a:t>
            </a:r>
            <a:r>
              <a:rPr lang="en-US" sz="1050" b="0" i="0" u="none" strike="noStrike" cap="none">
                <a:solidFill>
                  <a:srgbClr val="E0E0E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 b="0" i="0" u="none" strike="noStrike" cap="none">
                <a:solidFill>
                  <a:srgbClr val="E5C07B"/>
                </a:solidFill>
                <a:latin typeface="Fira Code"/>
                <a:ea typeface="Fira Code"/>
                <a:cs typeface="Fira Code"/>
                <a:sym typeface="Fira Code"/>
              </a:rPr>
              <a:t>INotification</a:t>
            </a:r>
            <a:r>
              <a:rPr lang="en-US" sz="1050" b="0" i="0" u="none" strike="noStrike" cap="none">
                <a:solidFill>
                  <a:srgbClr val="E0E0E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 b="0" i="0" u="none" strike="noStrike" cap="none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n</a:t>
            </a:r>
            <a:r>
              <a:rPr lang="en-US" sz="1050" b="0" i="0" u="none" strike="noStrike" cap="none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) {</a:t>
            </a:r>
            <a:r>
              <a:rPr lang="en-US" sz="1050" b="0" i="0" u="none" strike="noStrike" cap="none">
                <a:solidFill>
                  <a:srgbClr val="E0E0E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 b="0" i="0" u="none" strike="noStrike" cap="none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_db</a:t>
            </a:r>
            <a:r>
              <a:rPr lang="en-US" sz="1050" b="0" i="0" u="none" strike="noStrike" cap="none">
                <a:solidFill>
                  <a:srgbClr val="E0E0E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 b="0" i="0" u="none" strike="noStrike" cap="none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050" b="0" i="0" u="none" strike="noStrike" cap="none">
                <a:solidFill>
                  <a:srgbClr val="E0E0E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 b="0" i="0" u="none" strike="noStrike" cap="none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db</a:t>
            </a:r>
            <a:r>
              <a:rPr lang="en-US" sz="1050" b="0" i="0" u="none" strike="noStrike" cap="none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r>
              <a:rPr lang="en-US" sz="1050" b="0" i="0" u="none" strike="noStrike" cap="none">
                <a:solidFill>
                  <a:srgbClr val="E0E0E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 b="0" i="0" u="none" strike="noStrike" cap="none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_noti</a:t>
            </a:r>
            <a:r>
              <a:rPr lang="en-US" sz="1050" b="0" i="0" u="none" strike="noStrike" cap="none">
                <a:solidFill>
                  <a:srgbClr val="E0E0E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 b="0" i="0" u="none" strike="noStrike" cap="none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050" b="0" i="0" u="none" strike="noStrike" cap="none">
                <a:solidFill>
                  <a:srgbClr val="E0E0E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 b="0" i="0" u="none" strike="noStrike" cap="none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n</a:t>
            </a:r>
            <a:r>
              <a:rPr lang="en-US" sz="1050" b="0" i="0" u="none" strike="noStrike" cap="none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r>
              <a:rPr lang="en-US" sz="1050" b="0" i="0" u="none" strike="noStrike" cap="none">
                <a:solidFill>
                  <a:srgbClr val="E0E0E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 b="0" i="0" u="none" strike="noStrike" cap="none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r>
              <a:rPr lang="en-US" sz="1050" b="0" i="0" u="none" strike="noStrike" cap="none">
                <a:solidFill>
                  <a:srgbClr val="E0E0E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 b="0" i="0" u="none" strike="noStrike" cap="non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public void</a:t>
            </a:r>
            <a:r>
              <a:rPr lang="en-US" sz="1050" b="0" i="0" u="none" strike="noStrike" cap="none">
                <a:solidFill>
                  <a:srgbClr val="E0E0E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 b="0" i="0" u="none" strike="noStrike" cap="none">
                <a:solidFill>
                  <a:srgbClr val="61AFEF"/>
                </a:solidFill>
                <a:latin typeface="Fira Code"/>
                <a:ea typeface="Fira Code"/>
                <a:cs typeface="Fira Code"/>
                <a:sym typeface="Fira Code"/>
              </a:rPr>
              <a:t>Book</a:t>
            </a:r>
            <a:r>
              <a:rPr lang="en-US" sz="1050" b="0" i="0" u="none" strike="noStrike" cap="none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() {</a:t>
            </a:r>
            <a:r>
              <a:rPr lang="en-US" sz="1050" b="0" i="0" u="none" strike="noStrike" cap="none">
                <a:solidFill>
                  <a:srgbClr val="E0E0E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 b="0" i="0" u="none" strike="noStrike" cap="non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r>
              <a:rPr lang="en-US" sz="1050" b="0" i="0" u="none" strike="noStrike" cap="none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(!</a:t>
            </a:r>
            <a:r>
              <a:rPr lang="en-US" sz="1050" b="0" i="0" u="none" strike="noStrike" cap="none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_db</a:t>
            </a:r>
            <a:r>
              <a:rPr lang="en-US" sz="1050" b="0" i="0" u="none" strike="noStrike" cap="none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050" b="0" i="0" u="none" strike="noStrike" cap="none">
                <a:solidFill>
                  <a:srgbClr val="61AFEF"/>
                </a:solidFill>
                <a:latin typeface="Fira Code"/>
                <a:ea typeface="Fira Code"/>
                <a:cs typeface="Fira Code"/>
                <a:sym typeface="Fira Code"/>
              </a:rPr>
              <a:t>CheckSeat</a:t>
            </a:r>
            <a:r>
              <a:rPr lang="en-US" sz="1050" b="0" i="0" u="none" strike="noStrike" cap="none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050" b="0" i="0" u="none" strike="noStrike" cap="none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n-US" sz="1050" b="0" i="0" u="none" strike="noStrike" cap="none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))</a:t>
            </a:r>
            <a:r>
              <a:rPr lang="en-US" sz="1050" b="0" i="0" u="none" strike="noStrike" cap="none">
                <a:solidFill>
                  <a:srgbClr val="E0E0E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 b="0" i="0" u="none" strike="noStrike" cap="non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lang="en-US" sz="1050" b="0" i="0" u="none" strike="noStrike" cap="none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r>
              <a:rPr lang="en-US" sz="1050" b="0" i="0" u="none" strike="noStrike" cap="none">
                <a:solidFill>
                  <a:srgbClr val="E0E0E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 b="0" i="0" u="none" strike="noStrike" cap="none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_noti</a:t>
            </a:r>
            <a:r>
              <a:rPr lang="en-US" sz="1050" b="0" i="0" u="none" strike="noStrike" cap="none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050" b="0" i="0" u="none" strike="noStrike" cap="none">
                <a:solidFill>
                  <a:srgbClr val="61AFEF"/>
                </a:solidFill>
                <a:latin typeface="Fira Code"/>
                <a:ea typeface="Fira Code"/>
                <a:cs typeface="Fira Code"/>
                <a:sym typeface="Fira Code"/>
              </a:rPr>
              <a:t>Send</a:t>
            </a:r>
            <a:r>
              <a:rPr lang="en-US" sz="1050" b="0" i="0" u="none" strike="noStrike" cap="none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050" b="0" i="0" u="none" strike="noStrike" cap="none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n-US" sz="1050" b="0" i="0" u="none" strike="noStrike" cap="none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,</a:t>
            </a:r>
            <a:r>
              <a:rPr lang="en-US" sz="1050" b="0" i="0" u="none" strike="noStrike" cap="none">
                <a:solidFill>
                  <a:srgbClr val="E0E0E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 b="0" i="0" u="none" strike="noStrike" cap="none">
                <a:solidFill>
                  <a:srgbClr val="98C379"/>
                </a:solidFill>
                <a:latin typeface="Fira Code"/>
                <a:ea typeface="Fira Code"/>
                <a:cs typeface="Fira Code"/>
                <a:sym typeface="Fira Code"/>
              </a:rPr>
              <a:t>"Success!"</a:t>
            </a:r>
            <a:r>
              <a:rPr lang="en-US" sz="1050" b="0" i="0" u="none" strike="noStrike" cap="none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);</a:t>
            </a:r>
            <a:r>
              <a:rPr lang="en-US" sz="1050" b="0" i="0" u="none" strike="noStrike" cap="none">
                <a:solidFill>
                  <a:srgbClr val="E0E0E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 b="0" i="0" u="none" strike="noStrike" cap="none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r>
              <a:rPr lang="en-US" sz="1050" b="0" i="0" u="none" strike="noStrike" cap="none">
                <a:solidFill>
                  <a:srgbClr val="E0E0E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 b="0" i="0" u="none" strike="noStrike" cap="none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/>
          </a:p>
        </p:txBody>
      </p:sp>
      <p:sp>
        <p:nvSpPr>
          <p:cNvPr id="289" name="Google Shape;289;p21"/>
          <p:cNvSpPr txBox="1"/>
          <p:nvPr/>
        </p:nvSpPr>
        <p:spPr>
          <a:xfrm>
            <a:off x="18392775" y="1657350"/>
            <a:ext cx="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8888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Interfaces &amp; Impl</a:t>
            </a:r>
            <a:endParaRPr/>
          </a:p>
        </p:txBody>
      </p:sp>
      <p:sp>
        <p:nvSpPr>
          <p:cNvPr id="290" name="Google Shape;290;p21"/>
          <p:cNvSpPr txBox="1"/>
          <p:nvPr/>
        </p:nvSpPr>
        <p:spPr>
          <a:xfrm>
            <a:off x="35518725" y="1657350"/>
            <a:ext cx="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8888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BookingService.cs</a:t>
            </a:r>
            <a:endParaRPr/>
          </a:p>
        </p:txBody>
      </p:sp>
      <p:sp>
        <p:nvSpPr>
          <p:cNvPr id="292" name="Google Shape;292;p21"/>
          <p:cNvSpPr/>
          <p:nvPr/>
        </p:nvSpPr>
        <p:spPr>
          <a:xfrm>
            <a:off x="20107275" y="16764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08B8ED-95D0-3AF3-5287-1549644FAA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6312" y="1209673"/>
            <a:ext cx="5811966" cy="49149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382B5C-53E8-E323-9590-BCE2D9EA3CD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6318" y="1309687"/>
            <a:ext cx="5805682" cy="49906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F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038355" y="2881312"/>
            <a:ext cx="1304285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038355" y="3700462"/>
            <a:ext cx="130428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2"/>
          <p:cNvSpPr txBox="1"/>
          <p:nvPr/>
        </p:nvSpPr>
        <p:spPr>
          <a:xfrm>
            <a:off x="981075" y="390525"/>
            <a:ext cx="8191023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SỨC MẠNH CỦA DI: UNIT TEST (MOCKING)</a:t>
            </a:r>
            <a:endParaRPr dirty="0"/>
          </a:p>
        </p:txBody>
      </p:sp>
      <p:pic>
        <p:nvPicPr>
          <p:cNvPr id="302" name="Google Shape;302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39325" y="438150"/>
            <a:ext cx="18669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5775" y="452437"/>
            <a:ext cx="35242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2"/>
          <p:cNvSpPr txBox="1"/>
          <p:nvPr/>
        </p:nvSpPr>
        <p:spPr>
          <a:xfrm>
            <a:off x="33038355" y="2547937"/>
            <a:ext cx="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2. Đăng ký DI Container</a:t>
            </a:r>
            <a:endParaRPr/>
          </a:p>
        </p:txBody>
      </p:sp>
      <p:sp>
        <p:nvSpPr>
          <p:cNvPr id="307" name="Google Shape;307;p22"/>
          <p:cNvSpPr txBox="1"/>
          <p:nvPr/>
        </p:nvSpPr>
        <p:spPr>
          <a:xfrm>
            <a:off x="33190755" y="3033712"/>
            <a:ext cx="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services</a:t>
            </a:r>
            <a:r>
              <a:rPr lang="en-US" sz="975" b="0" i="0" u="none" strike="noStrike" cap="none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975" b="0" i="0" u="none" strike="noStrike" cap="none">
                <a:solidFill>
                  <a:srgbClr val="61AFEF"/>
                </a:solidFill>
                <a:latin typeface="Fira Code"/>
                <a:ea typeface="Fira Code"/>
                <a:cs typeface="Fira Code"/>
                <a:sym typeface="Fira Code"/>
              </a:rPr>
              <a:t>AddScoped</a:t>
            </a:r>
            <a:r>
              <a:rPr lang="en-US" sz="975" b="0" i="0" u="none" strike="noStrike" cap="none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&lt;</a:t>
            </a:r>
            <a:r>
              <a:rPr lang="en-US" sz="975" b="0" i="0" u="none" strike="noStrike" cap="none">
                <a:solidFill>
                  <a:srgbClr val="E5C07B"/>
                </a:solidFill>
                <a:latin typeface="Fira Code"/>
                <a:ea typeface="Fira Code"/>
                <a:cs typeface="Fira Code"/>
                <a:sym typeface="Fira Code"/>
              </a:rPr>
              <a:t>IDatabase</a:t>
            </a:r>
            <a:r>
              <a:rPr lang="en-US" sz="975" b="0" i="0" u="none" strike="noStrike" cap="none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,</a:t>
            </a:r>
            <a:r>
              <a:rPr lang="en-US" sz="975" b="0" i="0" u="none" strike="noStrike" cap="none">
                <a:solidFill>
                  <a:srgbClr val="E0E0E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975" b="0" i="0" u="none" strike="noStrike" cap="none">
                <a:solidFill>
                  <a:srgbClr val="E5C07B"/>
                </a:solidFill>
                <a:latin typeface="Fira Code"/>
                <a:ea typeface="Fira Code"/>
                <a:cs typeface="Fira Code"/>
                <a:sym typeface="Fira Code"/>
              </a:rPr>
              <a:t>PostgresDB</a:t>
            </a:r>
            <a:r>
              <a:rPr lang="en-US" sz="975" b="0" i="0" u="none" strike="noStrike" cap="none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&gt;();</a:t>
            </a:r>
            <a:r>
              <a:rPr lang="en-US" sz="975" b="0" i="0" u="none" strike="noStrike" cap="none">
                <a:solidFill>
                  <a:srgbClr val="E0E0E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975" b="0" i="1" u="none" strike="noStrike" cap="none">
                <a:solidFill>
                  <a:srgbClr val="7F848E"/>
                </a:solidFill>
                <a:latin typeface="Fira Code"/>
                <a:ea typeface="Fira Code"/>
                <a:cs typeface="Fira Code"/>
                <a:sym typeface="Fira Code"/>
              </a:rPr>
              <a:t>// ĐỔI TỪ ZALO SANG EMAIL? CHỈ SỬA 1 DÒNG:</a:t>
            </a:r>
            <a:r>
              <a:rPr lang="en-US" sz="975" b="0" i="0" u="none" strike="noStrike" cap="none">
                <a:solidFill>
                  <a:srgbClr val="E0E0E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975" b="0" i="0" u="none" strike="noStrike" cap="none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services</a:t>
            </a:r>
            <a:r>
              <a:rPr lang="en-US" sz="975" b="0" i="0" u="none" strike="noStrike" cap="none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975" b="0" i="0" u="none" strike="noStrike" cap="none">
                <a:solidFill>
                  <a:srgbClr val="61AFEF"/>
                </a:solidFill>
                <a:latin typeface="Fira Code"/>
                <a:ea typeface="Fira Code"/>
                <a:cs typeface="Fira Code"/>
                <a:sym typeface="Fira Code"/>
              </a:rPr>
              <a:t>AddScoped</a:t>
            </a:r>
            <a:r>
              <a:rPr lang="en-US" sz="975" b="0" i="0" u="none" strike="noStrike" cap="none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&lt;</a:t>
            </a:r>
            <a:r>
              <a:rPr lang="en-US" sz="975" b="0" i="0" u="none" strike="noStrike" cap="none">
                <a:solidFill>
                  <a:srgbClr val="E5C07B"/>
                </a:solidFill>
                <a:latin typeface="Fira Code"/>
                <a:ea typeface="Fira Code"/>
                <a:cs typeface="Fira Code"/>
                <a:sym typeface="Fira Code"/>
              </a:rPr>
              <a:t>INoti</a:t>
            </a:r>
            <a:r>
              <a:rPr lang="en-US" sz="975" b="0" i="0" u="none" strike="noStrike" cap="none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,</a:t>
            </a:r>
            <a:r>
              <a:rPr lang="en-US" sz="975" b="0" i="0" u="none" strike="noStrike" cap="none">
                <a:solidFill>
                  <a:srgbClr val="E0E0E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975" b="0" i="0" u="none" strike="noStrike" cap="none">
                <a:solidFill>
                  <a:srgbClr val="E5C07B"/>
                </a:solidFill>
                <a:latin typeface="Fira Code"/>
                <a:ea typeface="Fira Code"/>
                <a:cs typeface="Fira Code"/>
                <a:sym typeface="Fira Code"/>
              </a:rPr>
              <a:t>EmailSender</a:t>
            </a:r>
            <a:r>
              <a:rPr lang="en-US" sz="975" b="0" i="0" u="none" strike="noStrike" cap="none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&gt;();</a:t>
            </a:r>
            <a:r>
              <a:rPr lang="en-US" sz="975" b="0" i="0" u="none" strike="noStrike" cap="none">
                <a:solidFill>
                  <a:srgbClr val="E0E0E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975" b="0" i="0" u="none" strike="noStrike" cap="none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services</a:t>
            </a:r>
            <a:r>
              <a:rPr lang="en-US" sz="975" b="0" i="0" u="none" strike="noStrike" cap="none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975" b="0" i="0" u="none" strike="noStrike" cap="none">
                <a:solidFill>
                  <a:srgbClr val="61AFEF"/>
                </a:solidFill>
                <a:latin typeface="Fira Code"/>
                <a:ea typeface="Fira Code"/>
                <a:cs typeface="Fira Code"/>
                <a:sym typeface="Fira Code"/>
              </a:rPr>
              <a:t>AddScoped</a:t>
            </a:r>
            <a:r>
              <a:rPr lang="en-US" sz="975" b="0" i="0" u="none" strike="noStrike" cap="none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&lt;</a:t>
            </a:r>
            <a:r>
              <a:rPr lang="en-US" sz="975" b="0" i="0" u="none" strike="noStrike" cap="none">
                <a:solidFill>
                  <a:srgbClr val="E5C07B"/>
                </a:solidFill>
                <a:latin typeface="Fira Code"/>
                <a:ea typeface="Fira Code"/>
                <a:cs typeface="Fira Code"/>
                <a:sym typeface="Fira Code"/>
              </a:rPr>
              <a:t>BookingService</a:t>
            </a:r>
            <a:r>
              <a:rPr lang="en-US" sz="975" b="0" i="0" u="none" strike="noStrike" cap="none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&gt;();</a:t>
            </a:r>
            <a:endParaRPr/>
          </a:p>
        </p:txBody>
      </p:sp>
      <p:pic>
        <p:nvPicPr>
          <p:cNvPr id="308" name="Google Shape;30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047880" y="3709987"/>
            <a:ext cx="13023800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0BA27F-AFC1-CA12-3656-CE5D8BDFA0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317" y="856980"/>
            <a:ext cx="6589799" cy="55485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C725A8-2924-93A2-0BBD-08675849CE3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35147" b="48808"/>
          <a:stretch>
            <a:fillRect/>
          </a:stretch>
        </p:blipFill>
        <p:spPr>
          <a:xfrm>
            <a:off x="6737116" y="1427715"/>
            <a:ext cx="4478237" cy="22035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D36175-80CE-44F6-AE8D-B9CC4ABADC9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46641" y="3796162"/>
            <a:ext cx="4581525" cy="1638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79;p21" descr="image.png">
            <a:extLst>
              <a:ext uri="{FF2B5EF4-FFF2-40B4-BE49-F238E27FC236}">
                <a16:creationId xmlns:a16="http://schemas.microsoft.com/office/drawing/2014/main" id="{40D93293-C12D-4A87-98CD-83E98B9E00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49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145894"/>
            <a:ext cx="12192000" cy="5712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01650" y="2595562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87363" y="4786312"/>
            <a:ext cx="3533722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DECOUPLING</a:t>
            </a:r>
            <a:endParaRPr dirty="0"/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43351" y="2595562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4329064" y="4786312"/>
            <a:ext cx="3533722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TESTING</a:t>
            </a:r>
            <a:endParaRPr/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85051" y="2595562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8170764" y="4786312"/>
            <a:ext cx="3533722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MAINTENANCE</a:t>
            </a:r>
            <a:endParaRPr/>
          </a:p>
        </p:txBody>
      </p:sp>
      <p:pic>
        <p:nvPicPr>
          <p:cNvPr id="91" name="Google Shape;91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77900" y="3167062"/>
            <a:ext cx="9525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4851" y="3167062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556551" y="316706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1181100" y="488156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00FFCC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LỢI ÍCH</a:t>
            </a:r>
            <a:r>
              <a:rPr lang="en-US" sz="3600" b="0" i="0" u="none" strike="noStrike" cap="none" dirty="0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 CỐT LÕI ( CORE BENEFITS)</a:t>
            </a:r>
            <a:endParaRPr dirty="0"/>
          </a:p>
        </p:txBody>
      </p:sp>
      <p:pic>
        <p:nvPicPr>
          <p:cNvPr id="2" name="Google Shape;85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0550" y="488156"/>
            <a:ext cx="417513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  <p:bldP spid="88" grpId="0"/>
      <p:bldP spid="9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F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865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3"/>
          <p:cNvSpPr txBox="1"/>
          <p:nvPr/>
        </p:nvSpPr>
        <p:spPr>
          <a:xfrm>
            <a:off x="942975" y="390525"/>
            <a:ext cx="8451056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QUY TẮC NHỚ NHANH (SIGNS &amp; ACTIONS)</a:t>
            </a:r>
            <a:endParaRPr dirty="0"/>
          </a:p>
        </p:txBody>
      </p:sp>
      <p:pic>
        <p:nvPicPr>
          <p:cNvPr id="315" name="Google Shape;31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8400" y="438150"/>
            <a:ext cx="164782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775" y="452437"/>
            <a:ext cx="31432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3"/>
          <p:cNvSpPr txBox="1"/>
          <p:nvPr/>
        </p:nvSpPr>
        <p:spPr>
          <a:xfrm>
            <a:off x="242887" y="5219700"/>
            <a:ext cx="11706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8888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Đừng</a:t>
            </a:r>
            <a:r>
              <a:rPr lang="en-US" sz="2100" b="0" i="0" u="none" strike="noStrike" cap="none" dirty="0">
                <a:solidFill>
                  <a:srgbClr val="8888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</a:t>
            </a:r>
            <a:r>
              <a:rPr lang="en-US" sz="2100" b="0" i="0" u="none" strike="noStrike" cap="none" dirty="0" err="1">
                <a:solidFill>
                  <a:srgbClr val="8888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tự</a:t>
            </a:r>
            <a:r>
              <a:rPr lang="en-US" sz="2100" b="0" i="0" u="none" strike="noStrike" cap="none" dirty="0">
                <a:solidFill>
                  <a:srgbClr val="8888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</a:t>
            </a:r>
            <a:r>
              <a:rPr lang="en-US" sz="2100" b="0" i="0" u="none" strike="noStrike" cap="none" dirty="0" err="1">
                <a:solidFill>
                  <a:srgbClr val="8888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đi</a:t>
            </a:r>
            <a:r>
              <a:rPr lang="en-US" sz="2100" b="0" i="0" u="none" strike="noStrike" cap="none" dirty="0">
                <a:solidFill>
                  <a:srgbClr val="8888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</a:t>
            </a:r>
            <a:r>
              <a:rPr lang="en-US" sz="2100" b="0" i="0" u="none" strike="noStrike" cap="none" dirty="0" err="1">
                <a:solidFill>
                  <a:srgbClr val="8888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chợ</a:t>
            </a:r>
            <a:r>
              <a:rPr lang="en-US" sz="2100" b="0" i="0" u="none" strike="noStrike" cap="none" dirty="0">
                <a:solidFill>
                  <a:srgbClr val="8888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— </a:t>
            </a:r>
            <a:r>
              <a:rPr lang="en-US" sz="2100" b="0" i="0" u="none" strike="noStrike" cap="none" dirty="0" err="1">
                <a:solidFill>
                  <a:srgbClr val="8888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hãy</a:t>
            </a:r>
            <a:r>
              <a:rPr lang="en-US" sz="2100" b="0" i="0" u="none" strike="noStrike" cap="none" dirty="0">
                <a:solidFill>
                  <a:srgbClr val="8888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</a:t>
            </a:r>
            <a:r>
              <a:rPr lang="en-US" sz="2100" b="0" i="0" u="none" strike="noStrike" cap="none" dirty="0" err="1">
                <a:solidFill>
                  <a:srgbClr val="8888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đặt</a:t>
            </a:r>
            <a:r>
              <a:rPr lang="en-US" sz="2100" b="0" i="0" u="none" strike="noStrike" cap="none" dirty="0">
                <a:solidFill>
                  <a:srgbClr val="8888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</a:t>
            </a:r>
            <a:r>
              <a:rPr lang="en-US" sz="2100" b="0" i="0" u="none" strike="noStrike" cap="none" dirty="0" err="1">
                <a:solidFill>
                  <a:srgbClr val="8888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hàng</a:t>
            </a:r>
            <a:r>
              <a:rPr lang="en-US" sz="2100" b="0" i="0" u="none" strike="noStrike" cap="none" dirty="0">
                <a:solidFill>
                  <a:srgbClr val="8888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qua Interface. 🍜</a:t>
            </a:r>
            <a:endParaRPr dirty="0"/>
          </a:p>
        </p:txBody>
      </p:sp>
      <p:pic>
        <p:nvPicPr>
          <p:cNvPr id="328" name="Google Shape;328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28937" y="5267325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BEA773B-0B87-E59C-C6C9-E970BD658A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738" y="1645039"/>
            <a:ext cx="11557592" cy="32022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F"/>
        </a:solid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209675"/>
            <a:ext cx="5467350" cy="52578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4"/>
          <p:cNvSpPr txBox="1"/>
          <p:nvPr/>
        </p:nvSpPr>
        <p:spPr>
          <a:xfrm>
            <a:off x="942975" y="390525"/>
            <a:ext cx="710088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HỆ SINH THÁI FRAMEWORKS &amp; Q&amp;A</a:t>
            </a:r>
            <a:endParaRPr dirty="0"/>
          </a:p>
        </p:txBody>
      </p:sp>
      <p:pic>
        <p:nvPicPr>
          <p:cNvPr id="352" name="Google Shape;352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06025" y="438150"/>
            <a:ext cx="16002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5775" y="452437"/>
            <a:ext cx="31432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4"/>
          <p:cNvSpPr txBox="1"/>
          <p:nvPr/>
        </p:nvSpPr>
        <p:spPr>
          <a:xfrm>
            <a:off x="485775" y="1209675"/>
            <a:ext cx="574071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DI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trong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Framework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phổ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biến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:</a:t>
            </a:r>
            <a:endParaRPr dirty="0"/>
          </a:p>
        </p:txBody>
      </p:sp>
      <p:pic>
        <p:nvPicPr>
          <p:cNvPr id="357" name="Google Shape;357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96300" y="2805112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4"/>
          <p:cNvSpPr txBox="1"/>
          <p:nvPr/>
        </p:nvSpPr>
        <p:spPr>
          <a:xfrm>
            <a:off x="7996237" y="3757612"/>
            <a:ext cx="2050256" cy="84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0" i="0" u="none" strike="noStrike" cap="non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Q &amp; A</a:t>
            </a:r>
            <a:endParaRPr/>
          </a:p>
        </p:txBody>
      </p:sp>
      <p:sp>
        <p:nvSpPr>
          <p:cNvPr id="359" name="Google Shape;359;p24"/>
          <p:cNvSpPr txBox="1"/>
          <p:nvPr/>
        </p:nvSpPr>
        <p:spPr>
          <a:xfrm>
            <a:off x="7467600" y="4605337"/>
            <a:ext cx="30099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Cảm ơn các bạn đã lắng nghe!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D69EC3-7945-E313-4E68-05ADAED48D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205" y="1642909"/>
            <a:ext cx="5574895" cy="46595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" grpId="0"/>
      <p:bldP spid="35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F"/>
        </a:soli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25"/>
          <p:cNvSpPr/>
          <p:nvPr/>
        </p:nvSpPr>
        <p:spPr>
          <a:xfrm>
            <a:off x="485775" y="2066925"/>
            <a:ext cx="11220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5"/>
          <p:cNvSpPr/>
          <p:nvPr/>
        </p:nvSpPr>
        <p:spPr>
          <a:xfrm>
            <a:off x="485775" y="2838450"/>
            <a:ext cx="11220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5"/>
          <p:cNvSpPr/>
          <p:nvPr/>
        </p:nvSpPr>
        <p:spPr>
          <a:xfrm>
            <a:off x="485775" y="3609975"/>
            <a:ext cx="11220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5"/>
          <p:cNvSpPr/>
          <p:nvPr/>
        </p:nvSpPr>
        <p:spPr>
          <a:xfrm>
            <a:off x="485775" y="2828925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5"/>
          <p:cNvSpPr/>
          <p:nvPr/>
        </p:nvSpPr>
        <p:spPr>
          <a:xfrm>
            <a:off x="485775" y="2828925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5"/>
          <p:cNvSpPr/>
          <p:nvPr/>
        </p:nvSpPr>
        <p:spPr>
          <a:xfrm>
            <a:off x="485775" y="3600450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5"/>
          <p:cNvSpPr/>
          <p:nvPr/>
        </p:nvSpPr>
        <p:spPr>
          <a:xfrm>
            <a:off x="485775" y="3600450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5"/>
          <p:cNvSpPr/>
          <p:nvPr/>
        </p:nvSpPr>
        <p:spPr>
          <a:xfrm>
            <a:off x="485775" y="4371975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5"/>
          <p:cNvSpPr/>
          <p:nvPr/>
        </p:nvSpPr>
        <p:spPr>
          <a:xfrm>
            <a:off x="485775" y="4371975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6" name="Google Shape;386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22098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5"/>
          <p:cNvSpPr txBox="1"/>
          <p:nvPr/>
        </p:nvSpPr>
        <p:spPr>
          <a:xfrm>
            <a:off x="1581150" y="2247900"/>
            <a:ext cx="101250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https://images.stockcake.com/public/e/8/9/e8973c62-752a-4624-b13e-fea770e44785_medium/chaotic-cable-mess-stockcake.jpg</a:t>
            </a:r>
            <a:endParaRPr/>
          </a:p>
        </p:txBody>
      </p:sp>
      <p:sp>
        <p:nvSpPr>
          <p:cNvPr id="388" name="Google Shape;388;p25"/>
          <p:cNvSpPr txBox="1"/>
          <p:nvPr/>
        </p:nvSpPr>
        <p:spPr>
          <a:xfrm>
            <a:off x="1581150" y="2447925"/>
            <a:ext cx="101250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stockcake.com</a:t>
            </a:r>
            <a:endParaRPr/>
          </a:p>
        </p:txBody>
      </p:sp>
      <p:pic>
        <p:nvPicPr>
          <p:cNvPr id="389" name="Google Shape;389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775" y="29813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5"/>
          <p:cNvSpPr txBox="1"/>
          <p:nvPr/>
        </p:nvSpPr>
        <p:spPr>
          <a:xfrm>
            <a:off x="1581150" y="3019425"/>
            <a:ext cx="101250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https://en.pimg.jp/105/845/459/1/105845459.jpg</a:t>
            </a:r>
            <a:endParaRPr/>
          </a:p>
        </p:txBody>
      </p:sp>
      <p:sp>
        <p:nvSpPr>
          <p:cNvPr id="391" name="Google Shape;391;p25"/>
          <p:cNvSpPr txBox="1"/>
          <p:nvPr/>
        </p:nvSpPr>
        <p:spPr>
          <a:xfrm>
            <a:off x="1581150" y="3219450"/>
            <a:ext cx="101250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www.pixtastock.com</a:t>
            </a:r>
            <a:endParaRPr/>
          </a:p>
        </p:txBody>
      </p:sp>
      <p:pic>
        <p:nvPicPr>
          <p:cNvPr id="392" name="Google Shape;392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5775" y="37528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25"/>
          <p:cNvSpPr txBox="1"/>
          <p:nvPr/>
        </p:nvSpPr>
        <p:spPr>
          <a:xfrm>
            <a:off x="1581150" y="3790950"/>
            <a:ext cx="101250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https://runawayrice.com/wp-content/uploads/2017/11/a-Pho-Bo-Vietnamese-Beef-Noodle-Soup.jpg</a:t>
            </a:r>
            <a:endParaRPr/>
          </a:p>
        </p:txBody>
      </p:sp>
      <p:sp>
        <p:nvSpPr>
          <p:cNvPr id="394" name="Google Shape;394;p25"/>
          <p:cNvSpPr txBox="1"/>
          <p:nvPr/>
        </p:nvSpPr>
        <p:spPr>
          <a:xfrm>
            <a:off x="1581150" y="3990975"/>
            <a:ext cx="101250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runawayrice.com</a:t>
            </a:r>
            <a:endParaRPr/>
          </a:p>
        </p:txBody>
      </p:sp>
      <p:pic>
        <p:nvPicPr>
          <p:cNvPr id="395" name="Google Shape;395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5775" y="45624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5"/>
          <p:cNvSpPr txBox="1"/>
          <p:nvPr/>
        </p:nvSpPr>
        <p:spPr>
          <a:xfrm>
            <a:off x="1581150" y="4524375"/>
            <a:ext cx="101250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https://uk.mathworks.com/discovery/unit-testing/_jcr_content/mainParsys/columns_copy_684560171/2f5bb719-0ab6-404f-b740-57e090389102/image.adapt.full.medium.png/1767872511405.png</a:t>
            </a:r>
            <a:endParaRPr/>
          </a:p>
        </p:txBody>
      </p:sp>
      <p:sp>
        <p:nvSpPr>
          <p:cNvPr id="397" name="Google Shape;397;p25"/>
          <p:cNvSpPr txBox="1"/>
          <p:nvPr/>
        </p:nvSpPr>
        <p:spPr>
          <a:xfrm>
            <a:off x="1581150" y="4876800"/>
            <a:ext cx="101250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uk.mathworks.com</a:t>
            </a:r>
            <a:endParaRPr/>
          </a:p>
        </p:txBody>
      </p:sp>
      <p:sp>
        <p:nvSpPr>
          <p:cNvPr id="398" name="Google Shape;398;p25"/>
          <p:cNvSpPr txBox="1"/>
          <p:nvPr/>
        </p:nvSpPr>
        <p:spPr>
          <a:xfrm>
            <a:off x="485775" y="390525"/>
            <a:ext cx="1170622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IMAGE SOURCES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1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1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1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1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1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1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1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1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1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1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1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1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1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1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1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1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1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1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1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1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7" grpId="0"/>
      <p:bldP spid="378" grpId="0"/>
      <p:bldP spid="379" grpId="0"/>
      <p:bldP spid="380" grpId="0" animBg="1"/>
      <p:bldP spid="381" grpId="0" animBg="1"/>
      <p:bldP spid="382" grpId="0" animBg="1"/>
      <p:bldP spid="383" grpId="0" animBg="1"/>
      <p:bldP spid="384" grpId="0" animBg="1"/>
      <p:bldP spid="385" grpId="0" animBg="1"/>
      <p:bldP spid="387" grpId="0"/>
      <p:bldP spid="388" grpId="0"/>
      <p:bldP spid="390" grpId="0"/>
      <p:bldP spid="391" grpId="0"/>
      <p:bldP spid="393" grpId="0"/>
      <p:bldP spid="394" grpId="0"/>
      <p:bldP spid="396" grpId="0"/>
      <p:bldP spid="39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688</Words>
  <Application>Microsoft Office PowerPoint</Application>
  <PresentationFormat>Màn hình rộng</PresentationFormat>
  <Paragraphs>72</Paragraphs>
  <Slides>25</Slides>
  <Notes>15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8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25</vt:i4>
      </vt:variant>
    </vt:vector>
  </HeadingPairs>
  <TitlesOfParts>
    <vt:vector size="34" baseType="lpstr">
      <vt:lpstr>Plus Jakarta Sans</vt:lpstr>
      <vt:lpstr>Calibri</vt:lpstr>
      <vt:lpstr>Outfit ExtraBold</vt:lpstr>
      <vt:lpstr>Arial</vt:lpstr>
      <vt:lpstr>Fira Code</vt:lpstr>
      <vt:lpstr>Plus Jakarta Sans ExtraBold</vt:lpstr>
      <vt:lpstr>Plus Jakarta Sans SemiBold</vt:lpstr>
      <vt:lpstr>Times New Roman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KhanhOfGaming KhanhOfGaming</dc:creator>
  <cp:lastModifiedBy>Lac Phong</cp:lastModifiedBy>
  <cp:revision>6</cp:revision>
  <dcterms:modified xsi:type="dcterms:W3CDTF">2026-04-22T16:05:18Z</dcterms:modified>
</cp:coreProperties>
</file>